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custom"/>
  <p:notesSz cx="12192000" cy="6858000"/>
  <p:embeddedFontLst>
    <p:embeddedFont>
      <p:font typeface="Oranienbaum" charset="-122" pitchFamily="34"/>
      <p:regular r:id="rId14"/>
    </p:embeddedFont>
    <p:embeddedFont>
      <p:font typeface="MiSans" charset="-122" pitchFamily="34"/>
      <p:regular r:id="rId15"/>
    </p:embeddedFont>
    <p:embeddedFont>
      <p:font typeface="LXGW Bright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584200" y="-584200"/>
            <a:ext cx="1473200" cy="1473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l-ring"/>
          <p:cNvSpPr/>
          <p:nvPr/>
        </p:nvSpPr>
        <p:spPr>
          <a:xfrm>
            <a:off x="431800" y="304800"/>
            <a:ext cx="711200" cy="7112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orn-tr-solid"/>
          <p:cNvSpPr/>
          <p:nvPr/>
        </p:nvSpPr>
        <p:spPr>
          <a:xfrm>
            <a:off x="11353800" y="-660400"/>
            <a:ext cx="1498600" cy="1498600"/>
          </a:xfrm>
          <a:prstGeom prst="ellipse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5" name="orn-tr-ring"/>
          <p:cNvSpPr/>
          <p:nvPr/>
        </p:nvSpPr>
        <p:spPr>
          <a:xfrm>
            <a:off x="10642600" y="660400"/>
            <a:ext cx="711200" cy="7112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6" name="orn-bl-solid"/>
          <p:cNvSpPr/>
          <p:nvPr/>
        </p:nvSpPr>
        <p:spPr>
          <a:xfrm>
            <a:off x="-660400" y="5969000"/>
            <a:ext cx="1574800" cy="15748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7" name="orn-bl-ring"/>
          <p:cNvSpPr/>
          <p:nvPr/>
        </p:nvSpPr>
        <p:spPr>
          <a:xfrm>
            <a:off x="330200" y="6045200"/>
            <a:ext cx="609600" cy="6096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8" name="orn-br-solid"/>
          <p:cNvSpPr/>
          <p:nvPr/>
        </p:nvSpPr>
        <p:spPr>
          <a:xfrm>
            <a:off x="11455400" y="6121400"/>
            <a:ext cx="1320800" cy="1320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9" name="orn-br-ring"/>
          <p:cNvSpPr/>
          <p:nvPr/>
        </p:nvSpPr>
        <p:spPr>
          <a:xfrm>
            <a:off x="10871200" y="5664200"/>
            <a:ext cx="660400" cy="6604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10" name="photo-backing"/>
          <p:cNvSpPr/>
          <p:nvPr/>
        </p:nvSpPr>
        <p:spPr>
          <a:xfrm>
            <a:off x="7620000" y="1066800"/>
            <a:ext cx="3708400" cy="5105400"/>
          </a:xfrm>
          <a:prstGeom prst="rect">
            <a:avLst/>
          </a:prstGeom>
          <a:solidFill>
            <a:srgbClr val="F2DCD4"/>
          </a:solidFill>
          <a:ln>
            <a:noFill/>
          </a:ln>
        </p:spPr>
      </p:sp>
      <p:pic>
        <p:nvPicPr>
          <p:cNvPr id="11" name="photo"/>
          <p:cNvPicPr/>
          <p:nvPr/>
        </p:nvPicPr>
        <p:blipFill>
          <a:blip r:embed="rId2"/>
          <a:srcRect t="1918" b="1918"/>
          <a:stretch>
            <a:fillRect/>
          </a:stretch>
        </p:blipFill>
        <p:spPr>
          <a:xfrm>
            <a:off x="7874000" y="1320800"/>
            <a:ext cx="3708400" cy="5105400"/>
          </a:xfrm>
          <a:prstGeom prst="rect">
            <a:avLst/>
          </a:prstGeom>
          <a:ln>
            <a:noFill/>
          </a:ln>
        </p:spPr>
      </p:pic>
      <p:sp>
        <p:nvSpPr>
          <p:cNvPr id="12" name="kicker"/>
          <p:cNvSpPr txBox="1"/>
          <p:nvPr/>
        </p:nvSpPr>
        <p:spPr>
          <a:xfrm>
            <a:off x="1244600" y="10414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SAEI · 55° JAIIO 2026 | PROYECTO INTEGRADOR</a:t>
            </a:r>
            <a:endParaRPr lang="en-US" sz="1100" noProof="1"/>
          </a:p>
        </p:txBody>
      </p:sp>
      <p:sp>
        <p:nvSpPr>
          <p:cNvPr id="13" name="title"/>
          <p:cNvSpPr txBox="1"/>
          <p:nvPr/>
        </p:nvSpPr>
        <p:spPr>
          <a:xfrm>
            <a:off x="1244600" y="1422400"/>
            <a:ext cx="59690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8000"/>
              </a:lnSpc>
            </a:pPr>
            <a:r>
              <a:rPr lang="en-US" sz="28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Ingeniería de Software Interdisciplinaria para la Simulación de Laboratorios Químicos</a:t>
            </a:r>
            <a:endParaRPr lang="en-US" sz="2800" noProof="1"/>
          </a:p>
        </p:txBody>
      </p:sp>
      <p:sp>
        <p:nvSpPr>
          <p:cNvPr id="14" name="title-rule"/>
          <p:cNvSpPr/>
          <p:nvPr/>
        </p:nvSpPr>
        <p:spPr>
          <a:xfrm>
            <a:off x="1244600" y="36068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5" name="authors"/>
          <p:cNvSpPr txBox="1"/>
          <p:nvPr/>
        </p:nvSpPr>
        <p:spPr>
          <a:xfrm>
            <a:off x="1244600" y="38862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5C4630"/>
                </a:solidFill>
                <a:latin typeface="MiSans"/>
                <a:ea typeface="MiSans"/>
              </a:rPr>
              <a:t>Pablo Andrés Deymonnaz · Diego Kingston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5C4630"/>
                </a:solidFill>
                <a:latin typeface="MiSans"/>
                <a:ea typeface="MiSans"/>
              </a:rPr>
              <a:t>Juan Gabriel Bono · Leandro Ferrigno</a:t>
            </a:r>
            <a:endParaRPr lang="en-US" sz="1400" noProof="1"/>
          </a:p>
        </p:txBody>
      </p:sp>
      <p:sp>
        <p:nvSpPr>
          <p:cNvPr id="16" name="footnote"/>
          <p:cNvSpPr txBox="1"/>
          <p:nvPr/>
        </p:nvSpPr>
        <p:spPr>
          <a:xfrm>
            <a:off x="1244600" y="48514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A08F78"/>
                </a:solidFill>
                <a:latin typeface="MiSans"/>
                <a:ea typeface="MiSans"/>
              </a:rPr>
              <a:t>Primer cuatrimestre 2026 · Taller de Programación, carrera de Ingeniería Informática</a:t>
            </a:r>
            <a:endParaRPr lang="en-US" sz="1100" noProof="1"/>
          </a:p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A08F78"/>
                </a:solidFill>
                <a:latin typeface="MiSans"/>
                <a:ea typeface="MiSans"/>
              </a:rPr>
              <a:t>Clientes: docentes de Química Física de la misma facultad</a:t>
            </a:r>
            <a:endParaRPr lang="en-US" sz="1100" noProof="1"/>
          </a:p>
        </p:txBody>
      </p:sp>
      <p:pic>
        <p:nvPicPr>
          <p:cNvPr id="17" name="logo-fiuba"/>
          <p:cNvPicPr/>
          <p:nvPr/>
        </p:nvPicPr>
        <p:blipFill>
          <a:blip r:embed="rId3"/>
          <a:srcRect l="-16" r="-16"/>
          <a:stretch>
            <a:fillRect/>
          </a:stretch>
        </p:blipFill>
        <p:spPr>
          <a:xfrm>
            <a:off x="1244600" y="5689600"/>
            <a:ext cx="2438400" cy="7239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584200" y="-584200"/>
            <a:ext cx="1422400" cy="14224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l-ring"/>
          <p:cNvSpPr/>
          <p:nvPr/>
        </p:nvSpPr>
        <p:spPr>
          <a:xfrm>
            <a:off x="457200" y="330200"/>
            <a:ext cx="685800" cy="6858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orn-br-solid"/>
          <p:cNvSpPr/>
          <p:nvPr/>
        </p:nvSpPr>
        <p:spPr>
          <a:xfrm>
            <a:off x="11379200" y="6172200"/>
            <a:ext cx="1320800" cy="1320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1244600" y="137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01 | ESTO ERA TALLER</a:t>
            </a:r>
            <a:endParaRPr lang="en-US" sz="1200" noProof="1"/>
          </a:p>
        </p:txBody>
      </p:sp>
      <p:sp>
        <p:nvSpPr>
          <p:cNvPr id="6" name="statement"/>
          <p:cNvSpPr txBox="1"/>
          <p:nvPr/>
        </p:nvSpPr>
        <p:spPr>
          <a:xfrm>
            <a:off x="1244600" y="2133600"/>
            <a:ext cx="97028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3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Aplicaciones genéricas. </a:t>
            </a:r>
            <a:r>
              <a:rPr lang="en-US" sz="3400" noProof="1" spc="200" kern="0">
                <a:solidFill>
                  <a:srgbClr val="C0651F"/>
                </a:solidFill>
                <a:latin typeface="LXGW Bright"/>
                <a:ea typeface="LXGW Bright"/>
              </a:rPr>
              <a:t>Sin cliente real.</a:t>
            </a:r>
            <a:r>
              <a:rPr lang="en-US" sz="3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 Sin un dominio científico que entender.</a:t>
            </a:r>
            <a:endParaRPr lang="en-US" sz="3400" noProof="1"/>
          </a:p>
        </p:txBody>
      </p:sp>
      <p:sp>
        <p:nvSpPr>
          <p:cNvPr id="7" name="statement-rule"/>
          <p:cNvSpPr/>
          <p:nvPr/>
        </p:nvSpPr>
        <p:spPr>
          <a:xfrm>
            <a:off x="1244600" y="40894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8" name="source"/>
          <p:cNvSpPr txBox="1"/>
          <p:nvPr/>
        </p:nvSpPr>
        <p:spPr>
          <a:xfrm>
            <a:off x="1244600" y="6045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A08F78"/>
                </a:solidFill>
                <a:latin typeface="MiSans"/>
                <a:ea typeface="MiSans"/>
              </a:rPr>
              <a:t>López Rodríguez &amp; García Fraile, 2012.</a:t>
            </a:r>
            <a:endParaRPr lang="en-US" sz="1100" noProof="1"/>
          </a:p>
        </p:txBody>
      </p:sp>
      <p:sp>
        <p:nvSpPr>
          <p:cNvPr id="9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02</a:t>
            </a:r>
            <a:endParaRPr lang="en-US" sz="10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379200" y="-635000"/>
            <a:ext cx="1397000" cy="1397000"/>
          </a:xfrm>
          <a:prstGeom prst="ellipse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693400" y="584200"/>
            <a:ext cx="660400" cy="6604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orn-bl-solid"/>
          <p:cNvSpPr/>
          <p:nvPr/>
        </p:nvSpPr>
        <p:spPr>
          <a:xfrm>
            <a:off x="-635000" y="6045200"/>
            <a:ext cx="1371600" cy="13716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1244600" y="137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02 | Y LLEGÓ LA IA</a:t>
            </a:r>
            <a:endParaRPr lang="en-US" sz="1200" noProof="1"/>
          </a:p>
        </p:txBody>
      </p:sp>
      <p:sp>
        <p:nvSpPr>
          <p:cNvPr id="6" name="statement"/>
          <p:cNvSpPr txBox="1"/>
          <p:nvPr/>
        </p:nvSpPr>
        <p:spPr>
          <a:xfrm>
            <a:off x="1244600" y="2133600"/>
            <a:ext cx="9702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3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El desafío no es prohibir la IA. Es </a:t>
            </a:r>
            <a:r>
              <a:rPr lang="en-US" sz="3400" noProof="1" spc="200" kern="0">
                <a:solidFill>
                  <a:srgbClr val="C0651F"/>
                </a:solidFill>
                <a:latin typeface="LXGW Bright"/>
                <a:ea typeface="LXGW Bright"/>
              </a:rPr>
              <a:t>alfabetizar en su uso crítico</a:t>
            </a:r>
            <a:r>
              <a:rPr lang="en-US" sz="3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.</a:t>
            </a:r>
            <a:endParaRPr lang="en-US" sz="3400" noProof="1"/>
          </a:p>
        </p:txBody>
      </p:sp>
      <p:sp>
        <p:nvSpPr>
          <p:cNvPr id="7" name="statement-rule"/>
          <p:cNvSpPr/>
          <p:nvPr/>
        </p:nvSpPr>
        <p:spPr>
          <a:xfrm>
            <a:off x="1244600" y="44704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8" name="basis"/>
          <p:cNvSpPr txBox="1"/>
          <p:nvPr/>
        </p:nvSpPr>
        <p:spPr>
          <a:xfrm>
            <a:off x="1244600" y="47498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50" noProof="1">
                <a:solidFill>
                  <a:srgbClr val="7A6A56"/>
                </a:solidFill>
                <a:latin typeface="MiSans"/>
                <a:ea typeface="MiSans"/>
              </a:rPr>
              <a:t>Superada la fase de pánico y de optimismo utópico: hoy la educación se piensa con evidencia.</a:t>
            </a:r>
            <a:endParaRPr lang="en-US" sz="1650" noProof="1"/>
          </a:p>
        </p:txBody>
      </p:sp>
      <p:sp>
        <p:nvSpPr>
          <p:cNvPr id="9" name="source"/>
          <p:cNvSpPr txBox="1"/>
          <p:nvPr/>
        </p:nvSpPr>
        <p:spPr>
          <a:xfrm>
            <a:off x="1244600" y="6045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A08F78"/>
                </a:solidFill>
                <a:latin typeface="MiSans"/>
                <a:ea typeface="MiSans"/>
              </a:rPr>
              <a:t>Denny et al., 2024, Communications of the ACM · Prather et al., 2025, ITiCSE-WGR.</a:t>
            </a:r>
            <a:endParaRPr lang="en-US" sz="1100" noProof="1"/>
          </a:p>
        </p:txBody>
      </p:sp>
      <p:sp>
        <p:nvSpPr>
          <p:cNvPr id="10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03</a:t>
            </a:r>
            <a:endParaRPr lang="en-US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r-solid"/>
          <p:cNvSpPr/>
          <p:nvPr/>
        </p:nvSpPr>
        <p:spPr>
          <a:xfrm>
            <a:off x="11430000" y="61976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r-ring"/>
          <p:cNvSpPr/>
          <p:nvPr/>
        </p:nvSpPr>
        <p:spPr>
          <a:xfrm>
            <a:off x="10820400" y="5638800"/>
            <a:ext cx="635000" cy="6350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58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03 | MIENTRAS TANTO, EN QUÍMICA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91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El laboratorio no da abasto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549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7A6A56"/>
                </a:solidFill>
                <a:latin typeface="MiSans"/>
                <a:ea typeface="MiSans"/>
              </a:rPr>
              <a:t>Según los docentes de Química Física, nuestros clientes, cuatro límites concretos.</a:t>
            </a:r>
            <a:endParaRPr lang="en-US" sz="1600" noProof="1"/>
          </a:p>
        </p:txBody>
      </p:sp>
      <p:sp>
        <p:nvSpPr>
          <p:cNvPr id="7" name="p1"/>
          <p:cNvSpPr txBox="1"/>
          <p:nvPr/>
        </p:nvSpPr>
        <p:spPr>
          <a:xfrm>
            <a:off x="762000" y="2184400"/>
            <a:ext cx="508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Masividad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en-US" sz="1700" noProof="1">
                <a:solidFill>
                  <a:srgbClr val="7A6A56"/>
                </a:solidFill>
                <a:latin typeface="MiSans"/>
                <a:ea typeface="MiSans"/>
              </a:rPr>
              <a:t>No hay espacio para todos en el laboratorio.</a:t>
            </a:r>
            <a:endParaRPr lang="en-US" sz="1600" noProof="1"/>
          </a:p>
        </p:txBody>
      </p:sp>
      <p:sp>
        <p:nvSpPr>
          <p:cNvPr id="8" name="p2"/>
          <p:cNvSpPr txBox="1"/>
          <p:nvPr/>
        </p:nvSpPr>
        <p:spPr>
          <a:xfrm>
            <a:off x="6350000" y="2184400"/>
            <a:ext cx="508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Tiempo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en-US" sz="1700" noProof="1">
                <a:solidFill>
                  <a:srgbClr val="7A6A56"/>
                </a:solidFill>
                <a:latin typeface="MiSans"/>
                <a:ea typeface="MiSans"/>
              </a:rPr>
              <a:t>Preparar cada experimento lleva muchas horas.</a:t>
            </a:r>
            <a:endParaRPr lang="en-US" sz="1600" noProof="1"/>
          </a:p>
        </p:txBody>
      </p:sp>
      <p:sp>
        <p:nvSpPr>
          <p:cNvPr id="9" name="p3"/>
          <p:cNvSpPr txBox="1"/>
          <p:nvPr/>
        </p:nvSpPr>
        <p:spPr>
          <a:xfrm>
            <a:off x="762000" y="3886200"/>
            <a:ext cx="508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Materiales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en-US" sz="1700" noProof="1">
                <a:solidFill>
                  <a:srgbClr val="7A6A56"/>
                </a:solidFill>
                <a:latin typeface="MiSans"/>
                <a:ea typeface="MiSans"/>
              </a:rPr>
              <a:t>A veces no alcanzan para todos los grupos.</a:t>
            </a:r>
            <a:endParaRPr lang="en-US" sz="1600" noProof="1"/>
          </a:p>
        </p:txBody>
      </p:sp>
      <p:sp>
        <p:nvSpPr>
          <p:cNvPr id="10" name="p4"/>
          <p:cNvSpPr txBox="1"/>
          <p:nvPr/>
        </p:nvSpPr>
        <p:spPr>
          <a:xfrm>
            <a:off x="6350000" y="3886200"/>
            <a:ext cx="508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Carga horaria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en-US" sz="1700" noProof="1">
                <a:solidFill>
                  <a:srgbClr val="7A6A56"/>
                </a:solidFill>
                <a:latin typeface="MiSans"/>
                <a:ea typeface="MiSans"/>
              </a:rPr>
              <a:t>Insuficiente para hacer todas las prácticas.</a:t>
            </a:r>
            <a:endParaRPr lang="en-US" sz="1600" noProof="1"/>
          </a:p>
        </p:txBody>
      </p:sp>
      <p:sp>
        <p:nvSpPr>
          <p:cNvPr id="11" name="v-sep"/>
          <p:cNvSpPr/>
          <p:nvPr/>
        </p:nvSpPr>
        <p:spPr>
          <a:xfrm>
            <a:off x="6096000" y="2235200"/>
            <a:ext cx="12700" cy="28702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2" name="h-sep"/>
          <p:cNvSpPr/>
          <p:nvPr/>
        </p:nvSpPr>
        <p:spPr>
          <a:xfrm>
            <a:off x="762000" y="36576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bottom-rule"/>
          <p:cNvSpPr/>
          <p:nvPr/>
        </p:nvSpPr>
        <p:spPr>
          <a:xfrm>
            <a:off x="762000" y="6146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4" name="verdict"/>
          <p:cNvSpPr txBox="1"/>
          <p:nvPr/>
        </p:nvSpPr>
        <p:spPr>
          <a:xfrm>
            <a:off x="762000" y="6273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Muchas prácticas terminan siendo demostrativas, y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no existe un producto open-source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para esto.</a:t>
            </a:r>
            <a:endParaRPr lang="en-US" sz="1550" noProof="1"/>
          </a:p>
        </p:txBody>
      </p:sp>
      <p:sp>
        <p:nvSpPr>
          <p:cNvPr id="15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04</a:t>
            </a:r>
            <a:endParaRPr lang="en-US" sz="10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584200" y="-584200"/>
            <a:ext cx="1397000" cy="1397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r-solid"/>
          <p:cNvSpPr/>
          <p:nvPr/>
        </p:nvSpPr>
        <p:spPr>
          <a:xfrm>
            <a:off x="11404600" y="6172200"/>
            <a:ext cx="1295400" cy="12954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4" name="orn-br-ring"/>
          <p:cNvSpPr/>
          <p:nvPr/>
        </p:nvSpPr>
        <p:spPr>
          <a:xfrm>
            <a:off x="10795000" y="5613400"/>
            <a:ext cx="660400" cy="6604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5" name="kicker"/>
          <p:cNvSpPr txBox="1"/>
          <p:nvPr/>
        </p:nvSpPr>
        <p:spPr>
          <a:xfrm>
            <a:off x="1244600" y="1117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ASÍ TRANSFORMAMOS TALLER</a:t>
            </a:r>
            <a:endParaRPr lang="en-US" sz="1200" noProof="1"/>
          </a:p>
        </p:txBody>
      </p:sp>
      <p:sp>
        <p:nvSpPr>
          <p:cNvPr id="6" name="statement"/>
          <p:cNvSpPr txBox="1"/>
          <p:nvPr/>
        </p:nvSpPr>
        <p:spPr>
          <a:xfrm>
            <a:off x="1244600" y="1651000"/>
            <a:ext cx="97028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32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Trabajamos con </a:t>
            </a:r>
            <a:r>
              <a:rPr lang="en-US" sz="3200" noProof="1" spc="200" kern="0">
                <a:solidFill>
                  <a:srgbClr val="C0651F"/>
                </a:solidFill>
                <a:latin typeface="LXGW Bright"/>
                <a:ea typeface="LXGW Bright"/>
              </a:rPr>
              <a:t>clientes reales</a:t>
            </a:r>
            <a:r>
              <a:rPr lang="en-US" sz="32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, para satisfacer necesidades concretas de la Facultad.</a:t>
            </a:r>
            <a:endParaRPr lang="en-US" sz="3200" noProof="1"/>
          </a:p>
        </p:txBody>
      </p:sp>
      <p:sp>
        <p:nvSpPr>
          <p:cNvPr id="7" name="eq-left"/>
          <p:cNvSpPr txBox="1"/>
          <p:nvPr/>
        </p:nvSpPr>
        <p:spPr>
          <a:xfrm>
            <a:off x="1244600" y="3556000"/>
            <a:ext cx="3175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2000" noProof="1">
                <a:solidFill>
                  <a:srgbClr val="5C4630"/>
                </a:solidFill>
                <a:latin typeface="LXGW Bright"/>
                <a:ea typeface="LXGW Bright"/>
              </a:rPr>
              <a:t>Informática construye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4 equipos · 4–5 estudiantes · 8 h semanales</a:t>
            </a:r>
            <a:endParaRPr lang="en-US" sz="1600" noProof="1"/>
          </a:p>
        </p:txBody>
      </p:sp>
      <p:sp>
        <p:nvSpPr>
          <p:cNvPr id="8" name="eq-arrow"/>
          <p:cNvSpPr txBox="1"/>
          <p:nvPr/>
        </p:nvSpPr>
        <p:spPr>
          <a:xfrm>
            <a:off x="4470400" y="3606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800" noProof="1">
                <a:solidFill>
                  <a:srgbClr val="C0651F"/>
                </a:solidFill>
                <a:latin typeface="Oranienbaum"/>
                <a:ea typeface="Oranienbaum"/>
              </a:rPr>
              <a:t>+</a:t>
            </a:r>
            <a:endParaRPr lang="en-US" sz="2800" noProof="1"/>
          </a:p>
        </p:txBody>
      </p:sp>
      <p:sp>
        <p:nvSpPr>
          <p:cNvPr id="9" name="eq-mid"/>
          <p:cNvSpPr txBox="1"/>
          <p:nvPr/>
        </p:nvSpPr>
        <p:spPr>
          <a:xfrm>
            <a:off x="5283200" y="3556000"/>
            <a:ext cx="2921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2000" noProof="1">
                <a:solidFill>
                  <a:srgbClr val="5C4630"/>
                </a:solidFill>
                <a:latin typeface="LXGW Bright"/>
                <a:ea typeface="LXGW Bright"/>
              </a:rPr>
              <a:t>Química valida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Docentes como clientes, con reuniones periódicas</a:t>
            </a:r>
            <a:endParaRPr lang="en-US" sz="1600" noProof="1"/>
          </a:p>
        </p:txBody>
      </p:sp>
      <p:sp>
        <p:nvSpPr>
          <p:cNvPr id="10" name="eq-arrow2"/>
          <p:cNvSpPr txBox="1"/>
          <p:nvPr/>
        </p:nvSpPr>
        <p:spPr>
          <a:xfrm>
            <a:off x="8255000" y="3606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800" noProof="1">
                <a:solidFill>
                  <a:srgbClr val="C0651F"/>
                </a:solidFill>
                <a:latin typeface="Oranienbaum"/>
                <a:ea typeface="Oranienbaum"/>
              </a:rPr>
              <a:t>=</a:t>
            </a:r>
            <a:endParaRPr lang="en-US" sz="2800" noProof="1"/>
          </a:p>
        </p:txBody>
      </p:sp>
      <p:sp>
        <p:nvSpPr>
          <p:cNvPr id="11" name="eq-right"/>
          <p:cNvSpPr txBox="1"/>
          <p:nvPr/>
        </p:nvSpPr>
        <p:spPr>
          <a:xfrm>
            <a:off x="9067800" y="35560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2000" noProof="1" b="1">
                <a:solidFill>
                  <a:srgbClr val="C0651F"/>
                </a:solidFill>
                <a:latin typeface="LXGW Bright"/>
                <a:ea typeface="LXGW Bright"/>
              </a:rPr>
              <a:t>20 simuladores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de laboratorio, de código abierto</a:t>
            </a:r>
            <a:endParaRPr lang="en-US" sz="1600" noProof="1"/>
          </a:p>
        </p:txBody>
      </p:sp>
      <p:sp>
        <p:nvSpPr>
          <p:cNvPr id="12" name="statement-rule"/>
          <p:cNvSpPr/>
          <p:nvPr/>
        </p:nvSpPr>
        <p:spPr>
          <a:xfrm>
            <a:off x="1244600" y="49530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3" name="basis"/>
          <p:cNvSpPr txBox="1"/>
          <p:nvPr/>
        </p:nvSpPr>
        <p:spPr>
          <a:xfrm>
            <a:off x="1244600" y="5232400"/>
            <a:ext cx="970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750" noProof="1">
                <a:solidFill>
                  <a:srgbClr val="7A6A56"/>
                </a:solidFill>
                <a:latin typeface="MiSans"/>
                <a:ea typeface="MiSans"/>
              </a:rPr>
              <a:t>Con prácticas simuladas, cada estudiante hace </a:t>
            </a:r>
            <a:r>
              <a:rPr lang="en-US" sz="1750" noProof="1" b="1">
                <a:solidFill>
                  <a:srgbClr val="5C4630"/>
                </a:solidFill>
                <a:latin typeface="MiSans"/>
                <a:ea typeface="MiSans"/>
              </a:rPr>
              <a:t>lo mismo que haría en el laboratorio</a:t>
            </a:r>
            <a:r>
              <a:rPr lang="en-US" sz="1750" noProof="1">
                <a:solidFill>
                  <a:srgbClr val="7A6A56"/>
                </a:solidFill>
                <a:latin typeface="MiSans"/>
                <a:ea typeface="MiSans"/>
              </a:rPr>
              <a:t>: una formación razonable, sin los límites de espacio, tiempo y material.</a:t>
            </a:r>
            <a:endParaRPr lang="en-US" sz="1750" noProof="1"/>
          </a:p>
        </p:txBody>
      </p:sp>
      <p:sp>
        <p:nvSpPr>
          <p:cNvPr id="14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05</a:t>
            </a:r>
            <a:endParaRPr lang="en-US" sz="10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558800" y="-558800"/>
            <a:ext cx="1168400" cy="11684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l-ring"/>
          <p:cNvSpPr/>
          <p:nvPr/>
        </p:nvSpPr>
        <p:spPr>
          <a:xfrm>
            <a:off x="431800" y="355600"/>
            <a:ext cx="558800" cy="5588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05 | LO QUE CONSTRUIMOS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91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Veinte prácticas, cuatro ejes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549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7A6A56"/>
                </a:solidFill>
                <a:latin typeface="MiSans"/>
                <a:ea typeface="MiSans"/>
              </a:rPr>
              <a:t>Una suite de laboratorio virtual, publicada con licencia abierta MIT.</a:t>
            </a:r>
            <a:endParaRPr lang="en-US" sz="1600" noProof="1"/>
          </a:p>
        </p:txBody>
      </p:sp>
      <p:sp>
        <p:nvSpPr>
          <p:cNvPr id="7" name="axis1-chip"/>
          <p:cNvSpPr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8" name="axis1-num"/>
          <p:cNvSpPr txBox="1"/>
          <p:nvPr/>
        </p:nvSpPr>
        <p:spPr>
          <a:xfrm>
            <a:off x="762000" y="215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01</a:t>
            </a:r>
            <a:endParaRPr lang="en-US" sz="1700" noProof="1"/>
          </a:p>
        </p:txBody>
      </p:sp>
      <p:sp>
        <p:nvSpPr>
          <p:cNvPr id="9" name="axis1"/>
          <p:cNvSpPr txBox="1"/>
          <p:nvPr/>
        </p:nvSpPr>
        <p:spPr>
          <a:xfrm>
            <a:off x="1473200" y="2057400"/>
            <a:ext cx="9956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000" noProof="1">
                <a:solidFill>
                  <a:srgbClr val="5C4630"/>
                </a:solidFill>
                <a:latin typeface="LXGW Bright"/>
                <a:ea typeface="LXGW Bright"/>
              </a:rPr>
              <a:t>Cinética y catálisis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450" noProof="1">
                <a:solidFill>
                  <a:srgbClr val="A08F78"/>
                </a:solidFill>
                <a:latin typeface="MiSans"/>
                <a:ea typeface="MiSans"/>
              </a:rPr>
              <a:t>Reloj de yodo · cristal violeta · cinética enzimática · descomposición de H₂O₂ · adsorción</a:t>
            </a:r>
            <a:endParaRPr lang="en-US" sz="1600" noProof="1"/>
          </a:p>
        </p:txBody>
      </p:sp>
      <p:sp>
        <p:nvSpPr>
          <p:cNvPr id="10" name="sep1"/>
          <p:cNvSpPr/>
          <p:nvPr/>
        </p:nvSpPr>
        <p:spPr>
          <a:xfrm>
            <a:off x="1473200" y="2971800"/>
            <a:ext cx="99568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1" name="axis2-chip"/>
          <p:cNvSpPr/>
          <p:nvPr/>
        </p:nvSpPr>
        <p:spPr>
          <a:xfrm>
            <a:off x="762000" y="31750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2" name="axis2-num"/>
          <p:cNvSpPr txBox="1"/>
          <p:nvPr/>
        </p:nvSpPr>
        <p:spPr>
          <a:xfrm>
            <a:off x="762000" y="317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02</a:t>
            </a:r>
            <a:endParaRPr lang="en-US" sz="1700" noProof="1"/>
          </a:p>
        </p:txBody>
      </p:sp>
      <p:sp>
        <p:nvSpPr>
          <p:cNvPr id="13" name="axis2"/>
          <p:cNvSpPr txBox="1"/>
          <p:nvPr/>
        </p:nvSpPr>
        <p:spPr>
          <a:xfrm>
            <a:off x="1473200" y="3073400"/>
            <a:ext cx="9956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000" noProof="1">
                <a:solidFill>
                  <a:srgbClr val="5C4630"/>
                </a:solidFill>
                <a:latin typeface="LXGW Bright"/>
                <a:ea typeface="LXGW Bright"/>
              </a:rPr>
              <a:t>Electroquímica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450" noProof="1">
                <a:solidFill>
                  <a:srgbClr val="A08F78"/>
                </a:solidFill>
                <a:latin typeface="MiSans"/>
                <a:ea typeface="MiSans"/>
              </a:rPr>
              <a:t>Celdas galvánicas · titulación conductimétrica · voltamperometría cíclica · titulación potenciométrica · corrosión</a:t>
            </a:r>
            <a:endParaRPr lang="en-US" sz="1600" noProof="1"/>
          </a:p>
        </p:txBody>
      </p:sp>
      <p:sp>
        <p:nvSpPr>
          <p:cNvPr id="14" name="sep2"/>
          <p:cNvSpPr/>
          <p:nvPr/>
        </p:nvSpPr>
        <p:spPr>
          <a:xfrm>
            <a:off x="1473200" y="3987800"/>
            <a:ext cx="99568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5" name="axis3-chip"/>
          <p:cNvSpPr/>
          <p:nvPr/>
        </p:nvSpPr>
        <p:spPr>
          <a:xfrm>
            <a:off x="762000" y="41910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6" name="axis3-num"/>
          <p:cNvSpPr txBox="1"/>
          <p:nvPr/>
        </p:nvSpPr>
        <p:spPr>
          <a:xfrm>
            <a:off x="762000" y="4191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03</a:t>
            </a:r>
            <a:endParaRPr lang="en-US" sz="1700" noProof="1"/>
          </a:p>
        </p:txBody>
      </p:sp>
      <p:sp>
        <p:nvSpPr>
          <p:cNvPr id="17" name="axis3"/>
          <p:cNvSpPr txBox="1"/>
          <p:nvPr/>
        </p:nvSpPr>
        <p:spPr>
          <a:xfrm>
            <a:off x="1473200" y="4089400"/>
            <a:ext cx="9956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000" noProof="1">
                <a:solidFill>
                  <a:srgbClr val="5C4630"/>
                </a:solidFill>
                <a:latin typeface="LXGW Bright"/>
                <a:ea typeface="LXGW Bright"/>
              </a:rPr>
              <a:t>Termodinámica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450" noProof="1">
                <a:solidFill>
                  <a:srgbClr val="A08F78"/>
                </a:solidFill>
                <a:latin typeface="MiSans"/>
                <a:ea typeface="MiSans"/>
              </a:rPr>
              <a:t>Calorimetría · Clausius-Clapeyron · descenso crioscópico · diagrama de fases · equilibrio líquido-vapor</a:t>
            </a:r>
            <a:endParaRPr lang="en-US" sz="1600" noProof="1"/>
          </a:p>
        </p:txBody>
      </p:sp>
      <p:sp>
        <p:nvSpPr>
          <p:cNvPr id="18" name="sep3"/>
          <p:cNvSpPr/>
          <p:nvPr/>
        </p:nvSpPr>
        <p:spPr>
          <a:xfrm>
            <a:off x="1473200" y="5003800"/>
            <a:ext cx="99568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axis4-chip"/>
          <p:cNvSpPr/>
          <p:nvPr/>
        </p:nvSpPr>
        <p:spPr>
          <a:xfrm>
            <a:off x="762000" y="52070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0" name="axis4-num"/>
          <p:cNvSpPr txBox="1"/>
          <p:nvPr/>
        </p:nvSpPr>
        <p:spPr>
          <a:xfrm>
            <a:off x="762000" y="5207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04</a:t>
            </a:r>
            <a:endParaRPr lang="en-US" sz="1700" noProof="1"/>
          </a:p>
        </p:txBody>
      </p:sp>
      <p:sp>
        <p:nvSpPr>
          <p:cNvPr id="21" name="axis4"/>
          <p:cNvSpPr txBox="1"/>
          <p:nvPr/>
        </p:nvSpPr>
        <p:spPr>
          <a:xfrm>
            <a:off x="1473200" y="5105400"/>
            <a:ext cx="9956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000" noProof="1">
                <a:solidFill>
                  <a:srgbClr val="5C4630"/>
                </a:solidFill>
                <a:latin typeface="LXGW Bright"/>
                <a:ea typeface="LXGW Bright"/>
              </a:rPr>
              <a:t>Espectroscopía y transporte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lang="en-US" sz="1450" noProof="1">
                <a:solidFill>
                  <a:srgbClr val="A08F78"/>
                </a:solidFill>
                <a:latin typeface="MiSans"/>
                <a:ea typeface="MiSans"/>
              </a:rPr>
              <a:t>Beer-Lambert · IR del HCl · fluorescencia · viscosimetría · difusión en gel</a:t>
            </a:r>
            <a:endParaRPr lang="en-US" sz="1600" noProof="1"/>
          </a:p>
        </p:txBody>
      </p:sp>
      <p:sp>
        <p:nvSpPr>
          <p:cNvPr id="22" name="bottom-rule"/>
          <p:cNvSpPr/>
          <p:nvPr/>
        </p:nvSpPr>
        <p:spPr>
          <a:xfrm>
            <a:off x="762000" y="6146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3" name="verdict"/>
          <p:cNvSpPr txBox="1"/>
          <p:nvPr/>
        </p:nvSpPr>
        <p:spPr>
          <a:xfrm>
            <a:off x="762000" y="6273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Cinco prácticas por equipo: cada eje concentra dominio y comparte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una misma arquitectura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.</a:t>
            </a:r>
            <a:endParaRPr lang="en-US" sz="1550" noProof="1"/>
          </a:p>
        </p:txBody>
      </p:sp>
      <p:sp>
        <p:nvSpPr>
          <p:cNvPr id="24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06</a:t>
            </a:r>
            <a:endParaRPr lang="en-US" sz="10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r-solid"/>
          <p:cNvSpPr/>
          <p:nvPr/>
        </p:nvSpPr>
        <p:spPr>
          <a:xfrm>
            <a:off x="11455400" y="6197600"/>
            <a:ext cx="1244600" cy="12446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r-ring"/>
          <p:cNvSpPr/>
          <p:nvPr/>
        </p:nvSpPr>
        <p:spPr>
          <a:xfrm>
            <a:off x="10845800" y="5664200"/>
            <a:ext cx="609600" cy="6096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06 | CÓMO ESTÁ HECHA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91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Dos ideas hacen realista la simulación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549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7A6A56"/>
                </a:solidFill>
                <a:latin typeface="MiSans"/>
                <a:ea typeface="MiSans"/>
              </a:rPr>
              <a:t>La misma arquitectura corre debajo de las 20 prácticas.</a:t>
            </a:r>
            <a:endParaRPr lang="en-US" sz="1600" noProof="1"/>
          </a:p>
        </p:txBody>
      </p:sp>
      <p:sp>
        <p:nvSpPr>
          <p:cNvPr id="7" name="idea1-h"/>
          <p:cNvSpPr txBox="1"/>
          <p:nvPr/>
        </p:nvSpPr>
        <p:spPr>
          <a:xfrm>
            <a:off x="762000" y="21844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>
                <a:solidFill>
                  <a:srgbClr val="C0651F"/>
                </a:solidFill>
                <a:latin typeface="Oranienbaum"/>
                <a:ea typeface="Oranienbaum"/>
              </a:rPr>
              <a:t>5</a:t>
            </a: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 capas</a:t>
            </a:r>
            <a:endParaRPr lang="en-US" sz="1600" noProof="1"/>
          </a:p>
        </p:txBody>
      </p:sp>
      <p:sp>
        <p:nvSpPr>
          <p:cNvPr id="8" name="idea1-p"/>
          <p:cNvSpPr txBox="1"/>
          <p:nvPr/>
        </p:nvSpPr>
        <p:spPr>
          <a:xfrm>
            <a:off x="762000" y="27432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50" noProof="1">
                <a:solidFill>
                  <a:srgbClr val="7A6A56"/>
                </a:solidFill>
                <a:latin typeface="MiSans"/>
                <a:ea typeface="MiSans"/>
              </a:rPr>
              <a:t>Del modelo fisicoquímico exacto a la mesa de trabajo interactiva: ruido, instrumentos que se descalibran y eventos que castigan pasos omitidos.</a:t>
            </a:r>
            <a:endParaRPr lang="en-US" sz="1650" noProof="1"/>
          </a:p>
        </p:txBody>
      </p:sp>
      <p:sp>
        <p:nvSpPr>
          <p:cNvPr id="9" name="idea1-list"/>
          <p:cNvSpPr txBox="1"/>
          <p:nvPr/>
        </p:nvSpPr>
        <p:spPr>
          <a:xfrm>
            <a:off x="762000" y="4089400"/>
            <a:ext cx="5461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C1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· Modelo fisicoquímico</a:t>
            </a:r>
            <a:endParaRPr lang="en-US" sz="1550" noProof="1"/>
          </a:p>
          <a:p>
            <a:pPr algn="l">
              <a:lnSpc>
                <a:spcPct val="170000"/>
              </a:lnSpc>
            </a:pP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C2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· Ruido experimental</a:t>
            </a:r>
            <a:endParaRPr lang="en-US" sz="1550" noProof="1"/>
          </a:p>
          <a:p>
            <a:pPr algn="l">
              <a:lnSpc>
                <a:spcPct val="170000"/>
              </a:lnSpc>
            </a:pP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C3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· Instrumentos</a:t>
            </a:r>
            <a:endParaRPr lang="en-US" sz="1550" noProof="1"/>
          </a:p>
          <a:p>
            <a:pPr algn="l">
              <a:lnSpc>
                <a:spcPct val="170000"/>
              </a:lnSpc>
            </a:pP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C4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· Eventos y gamificación</a:t>
            </a:r>
            <a:endParaRPr lang="en-US" sz="1550" noProof="1"/>
          </a:p>
          <a:p>
            <a:pPr algn="l">
              <a:lnSpc>
                <a:spcPct val="170000"/>
              </a:lnSpc>
            </a:pP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C5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· Interfaz de usuario</a:t>
            </a:r>
            <a:endParaRPr lang="en-US" sz="1550" noProof="1"/>
          </a:p>
        </p:txBody>
      </p:sp>
      <p:sp>
        <p:nvSpPr>
          <p:cNvPr id="10" name="col-rule"/>
          <p:cNvSpPr/>
          <p:nvPr/>
        </p:nvSpPr>
        <p:spPr>
          <a:xfrm>
            <a:off x="6731000" y="2184400"/>
            <a:ext cx="12700" cy="3556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1" name="idea2-h"/>
          <p:cNvSpPr txBox="1"/>
          <p:nvPr/>
        </p:nvSpPr>
        <p:spPr>
          <a:xfrm>
            <a:off x="7239000" y="2184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800" noProof="1">
                <a:solidFill>
                  <a:srgbClr val="C0651F"/>
                </a:solidFill>
                <a:latin typeface="Oranienbaum"/>
                <a:ea typeface="Oranienbaum"/>
              </a:rPr>
              <a:t>1</a:t>
            </a: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 semilla</a:t>
            </a:r>
            <a:r>
              <a:rPr lang="en-US" sz="2200" noProof="1">
                <a:solidFill>
                  <a:srgbClr val="C0651F"/>
                </a:solidFill>
                <a:latin typeface="Oranienbaum"/>
                <a:ea typeface="Oranienbaum"/>
              </a:rPr>
              <a:t> → </a:t>
            </a:r>
            <a:r>
              <a:rPr lang="en-US" sz="2800" noProof="1">
                <a:solidFill>
                  <a:srgbClr val="C0651F"/>
                </a:solidFill>
                <a:latin typeface="Oranienbaum"/>
                <a:ea typeface="Oranienbaum"/>
              </a:rPr>
              <a:t>1</a:t>
            </a:r>
            <a:r>
              <a:rPr lang="en-US" sz="2200" noProof="1">
                <a:solidFill>
                  <a:srgbClr val="5C4630"/>
                </a:solidFill>
                <a:latin typeface="LXGW Bright"/>
                <a:ea typeface="LXGW Bright"/>
              </a:rPr>
              <a:t> escenario</a:t>
            </a:r>
            <a:endParaRPr lang="en-US" sz="1600" noProof="1"/>
          </a:p>
        </p:txBody>
      </p:sp>
      <p:sp>
        <p:nvSpPr>
          <p:cNvPr id="12" name="idea2-p"/>
          <p:cNvSpPr txBox="1"/>
          <p:nvPr/>
        </p:nvSpPr>
        <p:spPr>
          <a:xfrm>
            <a:off x="7239000" y="2743200"/>
            <a:ext cx="4191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50" noProof="1">
                <a:solidFill>
                  <a:srgbClr val="7A6A56"/>
                </a:solidFill>
                <a:latin typeface="MiSans"/>
                <a:ea typeface="MiSans"/>
              </a:rPr>
              <a:t>Cada estudiante recibe una semilla numérica: sus concentraciones, constantes y niveles de ruido son </a:t>
            </a:r>
            <a:r>
              <a:rPr lang="en-US" sz="1650" noProof="1" b="1">
                <a:solidFill>
                  <a:srgbClr val="5C4630"/>
                </a:solidFill>
                <a:latin typeface="MiSans"/>
                <a:ea typeface="MiSans"/>
              </a:rPr>
              <a:t>únicos, pero reproducibles</a:t>
            </a:r>
            <a:r>
              <a:rPr lang="en-US" sz="1650" noProof="1">
                <a:solidFill>
                  <a:srgbClr val="7A6A56"/>
                </a:solidFill>
                <a:latin typeface="MiSans"/>
                <a:ea typeface="MiSans"/>
              </a:rPr>
              <a:t>.</a:t>
            </a:r>
            <a:endParaRPr lang="en-US" sz="1650" noProof="1"/>
          </a:p>
        </p:txBody>
      </p:sp>
      <p:sp>
        <p:nvSpPr>
          <p:cNvPr id="13" name="idea2-sep"/>
          <p:cNvSpPr/>
          <p:nvPr/>
        </p:nvSpPr>
        <p:spPr>
          <a:xfrm>
            <a:off x="7239000" y="4267200"/>
            <a:ext cx="4191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4" name="idea2-example"/>
          <p:cNvSpPr txBox="1"/>
          <p:nvPr/>
        </p:nvSpPr>
        <p:spPr>
          <a:xfrm>
            <a:off x="7239000" y="4521200"/>
            <a:ext cx="4191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550" noProof="1">
                <a:solidFill>
                  <a:srgbClr val="A08F78"/>
                </a:solidFill>
                <a:latin typeface="MiSans"/>
                <a:ea typeface="MiSans"/>
              </a:rPr>
              <a:t>Si el estudiante olvida diluir una solución para frenar la reacción, el resultado sale </a:t>
            </a:r>
            <a:r>
              <a:rPr lang="en-US" sz="1550" noProof="1">
                <a:solidFill>
                  <a:srgbClr val="C0651F"/>
                </a:solidFill>
                <a:latin typeface="MiSans"/>
                <a:ea typeface="MiSans"/>
              </a:rPr>
              <a:t>sesgado</a:t>
            </a:r>
            <a:r>
              <a:rPr lang="en-US" sz="1550" noProof="1">
                <a:solidFill>
                  <a:srgbClr val="A08F78"/>
                </a:solidFill>
                <a:latin typeface="MiSans"/>
                <a:ea typeface="MiSans"/>
              </a:rPr>
              <a:t>: el error enseña.</a:t>
            </a:r>
            <a:endParaRPr lang="en-US" sz="1550" noProof="1"/>
          </a:p>
        </p:txBody>
      </p:sp>
      <p:sp>
        <p:nvSpPr>
          <p:cNvPr id="15" name="bottom-rule"/>
          <p:cNvSpPr/>
          <p:nvPr/>
        </p:nvSpPr>
        <p:spPr>
          <a:xfrm>
            <a:off x="762000" y="6146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6" name="verdict"/>
          <p:cNvSpPr txBox="1"/>
          <p:nvPr/>
        </p:nvSpPr>
        <p:spPr>
          <a:xfrm>
            <a:off x="762000" y="6273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Realismo experimental y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evaluación consistente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entre estudiantes.</a:t>
            </a:r>
            <a:endParaRPr lang="en-US" sz="1550" noProof="1"/>
          </a:p>
        </p:txBody>
      </p:sp>
      <p:sp>
        <p:nvSpPr>
          <p:cNvPr id="17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07</a:t>
            </a:r>
            <a:endParaRPr lang="en-US" sz="10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531600" y="-584200"/>
            <a:ext cx="1193800" cy="1193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47400" y="533400"/>
            <a:ext cx="584200" cy="5842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07 | LA IA EN EL PROCESO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91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La IA acelera. La supervisión valida.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549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7A6A56"/>
                </a:solidFill>
                <a:latin typeface="MiSans"/>
                <a:ea typeface="MiSans"/>
              </a:rPr>
              <a:t>Cuatro fases ordenan el uso de la IA generativa durante el cuatrimestre.</a:t>
            </a:r>
            <a:endParaRPr lang="en-US" sz="1600" noProof="1"/>
          </a:p>
        </p:txBody>
      </p:sp>
      <p:sp>
        <p:nvSpPr>
          <p:cNvPr id="7" name="flow-line"/>
          <p:cNvSpPr/>
          <p:nvPr/>
        </p:nvSpPr>
        <p:spPr>
          <a:xfrm>
            <a:off x="762000" y="26670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8" name="step1-chip"/>
          <p:cNvSpPr/>
          <p:nvPr/>
        </p:nvSpPr>
        <p:spPr>
          <a:xfrm>
            <a:off x="762000" y="24384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9" name="step1-num"/>
          <p:cNvSpPr txBox="1"/>
          <p:nvPr/>
        </p:nvSpPr>
        <p:spPr>
          <a:xfrm>
            <a:off x="762000" y="2438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01</a:t>
            </a:r>
            <a:endParaRPr lang="en-US" sz="1700" noProof="1"/>
          </a:p>
        </p:txBody>
      </p:sp>
      <p:sp>
        <p:nvSpPr>
          <p:cNvPr id="10" name="step1-title"/>
          <p:cNvSpPr txBox="1"/>
          <p:nvPr/>
        </p:nvSpPr>
        <p:spPr>
          <a:xfrm>
            <a:off x="762000" y="30988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5C4630"/>
                </a:solidFill>
                <a:latin typeface="LXGW Bright"/>
                <a:ea typeface="LXGW Bright"/>
              </a:rPr>
              <a:t>Investigar</a:t>
            </a:r>
            <a:endParaRPr lang="en-US" sz="1600" noProof="1"/>
          </a:p>
        </p:txBody>
      </p:sp>
      <p:sp>
        <p:nvSpPr>
          <p:cNvPr id="11" name="step1-body"/>
          <p:cNvSpPr txBox="1"/>
          <p:nvPr/>
        </p:nvSpPr>
        <p:spPr>
          <a:xfrm>
            <a:off x="762000" y="3556000"/>
            <a:ext cx="241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Entender el dominio con LLMs, siempre contrastado con bibliografía.</a:t>
            </a:r>
            <a:endParaRPr lang="en-US" sz="1550" noProof="1"/>
          </a:p>
        </p:txBody>
      </p:sp>
      <p:sp>
        <p:nvSpPr>
          <p:cNvPr id="12" name="step2-chip"/>
          <p:cNvSpPr/>
          <p:nvPr/>
        </p:nvSpPr>
        <p:spPr>
          <a:xfrm>
            <a:off x="3556000" y="24384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3" name="step2-num"/>
          <p:cNvSpPr txBox="1"/>
          <p:nvPr/>
        </p:nvSpPr>
        <p:spPr>
          <a:xfrm>
            <a:off x="3556000" y="2438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02</a:t>
            </a:r>
            <a:endParaRPr lang="en-US" sz="1700" noProof="1"/>
          </a:p>
        </p:txBody>
      </p:sp>
      <p:sp>
        <p:nvSpPr>
          <p:cNvPr id="14" name="step2-title"/>
          <p:cNvSpPr txBox="1"/>
          <p:nvPr/>
        </p:nvSpPr>
        <p:spPr>
          <a:xfrm>
            <a:off x="3556000" y="30988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5C4630"/>
                </a:solidFill>
                <a:latin typeface="LXGW Bright"/>
                <a:ea typeface="LXGW Bright"/>
              </a:rPr>
              <a:t>Diseñar</a:t>
            </a:r>
            <a:endParaRPr lang="en-US" sz="1600" noProof="1"/>
          </a:p>
        </p:txBody>
      </p:sp>
      <p:sp>
        <p:nvSpPr>
          <p:cNvPr id="15" name="step2-body"/>
          <p:cNvSpPr txBox="1"/>
          <p:nvPr/>
        </p:nvSpPr>
        <p:spPr>
          <a:xfrm>
            <a:off x="3556000" y="3556000"/>
            <a:ext cx="241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Definir la arquitectura de cinco capas, común a toda la suite.</a:t>
            </a:r>
            <a:endParaRPr lang="en-US" sz="1550" noProof="1"/>
          </a:p>
        </p:txBody>
      </p:sp>
      <p:sp>
        <p:nvSpPr>
          <p:cNvPr id="16" name="step3-chip"/>
          <p:cNvSpPr/>
          <p:nvPr/>
        </p:nvSpPr>
        <p:spPr>
          <a:xfrm>
            <a:off x="6350000" y="24384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7" name="step3-num"/>
          <p:cNvSpPr txBox="1"/>
          <p:nvPr/>
        </p:nvSpPr>
        <p:spPr>
          <a:xfrm>
            <a:off x="6350000" y="2438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03</a:t>
            </a:r>
            <a:endParaRPr lang="en-US" sz="1700" noProof="1"/>
          </a:p>
        </p:txBody>
      </p:sp>
      <p:sp>
        <p:nvSpPr>
          <p:cNvPr id="18" name="step3-title"/>
          <p:cNvSpPr txBox="1"/>
          <p:nvPr/>
        </p:nvSpPr>
        <p:spPr>
          <a:xfrm>
            <a:off x="6350000" y="30988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5C4630"/>
                </a:solidFill>
                <a:latin typeface="LXGW Bright"/>
                <a:ea typeface="LXGW Bright"/>
              </a:rPr>
              <a:t>Implementar</a:t>
            </a:r>
            <a:endParaRPr lang="en-US" sz="1600" noProof="1"/>
          </a:p>
        </p:txBody>
      </p:sp>
      <p:sp>
        <p:nvSpPr>
          <p:cNvPr id="19" name="step3-body"/>
          <p:cNvSpPr txBox="1"/>
          <p:nvPr/>
        </p:nvSpPr>
        <p:spPr>
          <a:xfrm>
            <a:off x="6350000" y="3556000"/>
            <a:ext cx="241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Todo código generado por IA pasa por revisión obligatoria en pull requests.</a:t>
            </a:r>
            <a:endParaRPr lang="en-US" sz="1550" noProof="1"/>
          </a:p>
        </p:txBody>
      </p:sp>
      <p:sp>
        <p:nvSpPr>
          <p:cNvPr id="20" name="step4-chip"/>
          <p:cNvSpPr/>
          <p:nvPr/>
        </p:nvSpPr>
        <p:spPr>
          <a:xfrm>
            <a:off x="9144000" y="2438400"/>
            <a:ext cx="457200" cy="4572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1" name="step4-num"/>
          <p:cNvSpPr txBox="1"/>
          <p:nvPr/>
        </p:nvSpPr>
        <p:spPr>
          <a:xfrm>
            <a:off x="9144000" y="2438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C0651F"/>
                </a:solidFill>
                <a:latin typeface="Oranienbaum"/>
                <a:ea typeface="Oranienbaum"/>
              </a:rPr>
              <a:t>04</a:t>
            </a:r>
            <a:endParaRPr lang="en-US" sz="1700" noProof="1"/>
          </a:p>
        </p:txBody>
      </p:sp>
      <p:sp>
        <p:nvSpPr>
          <p:cNvPr id="22" name="step4-title"/>
          <p:cNvSpPr txBox="1"/>
          <p:nvPr/>
        </p:nvSpPr>
        <p:spPr>
          <a:xfrm>
            <a:off x="9144000" y="30988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5C4630"/>
                </a:solidFill>
                <a:latin typeface="LXGW Bright"/>
                <a:ea typeface="LXGW Bright"/>
              </a:rPr>
              <a:t>Validar</a:t>
            </a:r>
            <a:endParaRPr lang="en-US" sz="1600" noProof="1"/>
          </a:p>
        </p:txBody>
      </p:sp>
      <p:sp>
        <p:nvSpPr>
          <p:cNvPr id="23" name="step4-body"/>
          <p:cNvSpPr txBox="1"/>
          <p:nvPr/>
        </p:nvSpPr>
        <p:spPr>
          <a:xfrm>
            <a:off x="9144000" y="35560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Pruebas extensivas contra soluciones analíticas conocidas.</a:t>
            </a:r>
            <a:endParaRPr lang="en-US" sz="1550" noProof="1"/>
          </a:p>
        </p:txBody>
      </p:sp>
      <p:sp>
        <p:nvSpPr>
          <p:cNvPr id="24" name="lesson-sep"/>
          <p:cNvSpPr/>
          <p:nvPr/>
        </p:nvSpPr>
        <p:spPr>
          <a:xfrm>
            <a:off x="762000" y="5130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5" name="lesson"/>
          <p:cNvSpPr txBox="1"/>
          <p:nvPr/>
        </p:nvSpPr>
        <p:spPr>
          <a:xfrm>
            <a:off x="762000" y="53848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5C4630"/>
                </a:solidFill>
                <a:latin typeface="LXGW Bright"/>
                <a:ea typeface="LXGW Bright"/>
              </a:rPr>
              <a:t>La IA acorta el camino hacia el dominio químico, pero </a:t>
            </a:r>
            <a:r>
              <a:rPr lang="en-US" sz="1700" noProof="1">
                <a:solidFill>
                  <a:srgbClr val="C0651F"/>
                </a:solidFill>
                <a:latin typeface="LXGW Bright"/>
                <a:ea typeface="LXGW Bright"/>
              </a:rPr>
              <a:t>no reemplaza el diálogo con los especialistas</a:t>
            </a:r>
            <a:r>
              <a:rPr lang="en-US" sz="1700" noProof="1">
                <a:solidFill>
                  <a:srgbClr val="5C4630"/>
                </a:solidFill>
                <a:latin typeface="LXGW Bright"/>
                <a:ea typeface="LXGW Bright"/>
              </a:rPr>
              <a:t>.</a:t>
            </a:r>
            <a:endParaRPr lang="en-US" sz="1700" noProof="1"/>
          </a:p>
        </p:txBody>
      </p:sp>
      <p:sp>
        <p:nvSpPr>
          <p:cNvPr id="26" name="bottom-rule"/>
          <p:cNvSpPr/>
          <p:nvPr/>
        </p:nvSpPr>
        <p:spPr>
          <a:xfrm>
            <a:off x="762000" y="6146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7" name="verdict"/>
          <p:cNvSpPr txBox="1"/>
          <p:nvPr/>
        </p:nvSpPr>
        <p:spPr>
          <a:xfrm>
            <a:off x="762000" y="6273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Cada artefacto pasa por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revisión humana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y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validación experimental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.</a:t>
            </a:r>
            <a:endParaRPr lang="en-US" sz="1550" noProof="1"/>
          </a:p>
        </p:txBody>
      </p:sp>
      <p:sp>
        <p:nvSpPr>
          <p:cNvPr id="28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08</a:t>
            </a:r>
            <a:endParaRPr lang="en-US" sz="10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84200" y="6121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50800" y="6375400"/>
            <a:ext cx="533400" cy="5334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08 | RESULTADOS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91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Los resultados son excelentes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549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7A6A56"/>
                </a:solidFill>
                <a:latin typeface="MiSans"/>
                <a:ea typeface="MiSans"/>
              </a:rPr>
              <a:t>La suite en funcionamiento. Capturas de los simuladores desarrollados por los cuatro equipos.</a:t>
            </a:r>
            <a:endParaRPr lang="en-US" sz="1600" noProof="1"/>
          </a:p>
        </p:txBody>
      </p:sp>
      <p:sp>
        <p:nvSpPr>
          <p:cNvPr id="7" name="shot1-backing"/>
          <p:cNvSpPr/>
          <p:nvPr/>
        </p:nvSpPr>
        <p:spPr>
          <a:xfrm>
            <a:off x="609600" y="1981200"/>
            <a:ext cx="4826000" cy="3098800"/>
          </a:xfrm>
          <a:prstGeom prst="rect">
            <a:avLst/>
          </a:prstGeom>
          <a:solidFill>
            <a:srgbClr val="F2DCD4"/>
          </a:solidFill>
          <a:ln>
            <a:noFill/>
          </a:ln>
        </p:spPr>
      </p:sp>
      <p:pic>
        <p:nvPicPr>
          <p:cNvPr id="8" name="shot1-img"/>
          <p:cNvPicPr/>
          <p:nvPr/>
        </p:nvPicPr>
        <p:blipFill>
          <a:blip r:embed="rId2"/>
          <a:srcRect l="3905" r="3905"/>
          <a:stretch>
            <a:fillRect/>
          </a:stretch>
        </p:blipFill>
        <p:spPr>
          <a:xfrm>
            <a:off x="762000" y="2133600"/>
            <a:ext cx="4826000" cy="3098800"/>
          </a:xfrm>
          <a:prstGeom prst="rect">
            <a:avLst/>
          </a:prstGeom>
          <a:ln>
            <a:noFill/>
          </a:ln>
        </p:spPr>
      </p:pic>
      <p:sp>
        <p:nvSpPr>
          <p:cNvPr id="9" name="shot1-cap"/>
          <p:cNvSpPr txBox="1"/>
          <p:nvPr/>
        </p:nvSpPr>
        <p:spPr>
          <a:xfrm>
            <a:off x="762000" y="5283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500" noProof="1" b="1">
                <a:solidFill>
                  <a:srgbClr val="5C4630"/>
                </a:solidFill>
                <a:latin typeface="MiSans"/>
                <a:ea typeface="MiSans"/>
              </a:rPr>
              <a:t>Bomba calorimétrica</a:t>
            </a:r>
            <a:endParaRPr lang="en-US" sz="1500" noProof="1"/>
          </a:p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7A6A56"/>
                </a:solidFill>
                <a:latin typeface="MiSans"/>
                <a:ea typeface="MiSans"/>
              </a:rPr>
              <a:t>Calorimetría de combustión</a:t>
            </a:r>
            <a:endParaRPr lang="en-US" sz="1500" noProof="1"/>
          </a:p>
        </p:txBody>
      </p:sp>
      <p:sp>
        <p:nvSpPr>
          <p:cNvPr id="10" name="shot2-backing"/>
          <p:cNvSpPr/>
          <p:nvPr/>
        </p:nvSpPr>
        <p:spPr>
          <a:xfrm>
            <a:off x="6197600" y="1981200"/>
            <a:ext cx="4826000" cy="3098800"/>
          </a:xfrm>
          <a:prstGeom prst="rect">
            <a:avLst/>
          </a:prstGeom>
          <a:solidFill>
            <a:srgbClr val="F2DCD4"/>
          </a:solidFill>
          <a:ln>
            <a:noFill/>
          </a:ln>
        </p:spPr>
      </p:sp>
      <p:pic>
        <p:nvPicPr>
          <p:cNvPr id="11" name="shot2-img"/>
          <p:cNvPicPr/>
          <p:nvPr/>
        </p:nvPicPr>
        <p:blipFill>
          <a:blip r:embed="rId3"/>
          <a:srcRect t="0" b="19000"/>
          <a:stretch>
            <a:fillRect/>
          </a:stretch>
        </p:blipFill>
        <p:spPr>
          <a:xfrm>
            <a:off x="6350000" y="2133600"/>
            <a:ext cx="4826000" cy="3098800"/>
          </a:xfrm>
          <a:prstGeom prst="rect">
            <a:avLst/>
          </a:prstGeom>
          <a:ln>
            <a:noFill/>
          </a:ln>
        </p:spPr>
      </p:pic>
      <p:sp>
        <p:nvSpPr>
          <p:cNvPr id="12" name="shot2-cap"/>
          <p:cNvSpPr txBox="1"/>
          <p:nvPr/>
        </p:nvSpPr>
        <p:spPr>
          <a:xfrm>
            <a:off x="6350000" y="5283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500" noProof="1" b="1">
                <a:solidFill>
                  <a:srgbClr val="5C4630"/>
                </a:solidFill>
                <a:latin typeface="MiSans"/>
                <a:ea typeface="MiSans"/>
              </a:rPr>
              <a:t>Isoteniscopio de precisión</a:t>
            </a:r>
            <a:endParaRPr lang="en-US" sz="1500" noProof="1"/>
          </a:p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7A6A56"/>
                </a:solidFill>
                <a:latin typeface="MiSans"/>
                <a:ea typeface="MiSans"/>
              </a:rPr>
              <a:t>Clausius-Clapeyron</a:t>
            </a:r>
            <a:endParaRPr lang="en-US" sz="1500" noProof="1"/>
          </a:p>
        </p:txBody>
      </p:sp>
      <p:sp>
        <p:nvSpPr>
          <p:cNvPr id="13" name="bigline"/>
          <p:cNvSpPr txBox="1"/>
          <p:nvPr/>
        </p:nvSpPr>
        <p:spPr>
          <a:xfrm>
            <a:off x="762000" y="5918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A08F78"/>
                </a:solidFill>
                <a:latin typeface="MiSans"/>
                <a:ea typeface="MiSans"/>
              </a:rPr>
              <a:t>Eje de Termodinámica, Grupo 3: dos de las 20 prácticas en desarrollo · suite de código abierto.</a:t>
            </a:r>
            <a:endParaRPr lang="en-US" sz="1350" noProof="1"/>
          </a:p>
        </p:txBody>
      </p:sp>
      <p:sp>
        <p:nvSpPr>
          <p:cNvPr id="14" name="bottom-rule"/>
          <p:cNvSpPr/>
          <p:nvPr/>
        </p:nvSpPr>
        <p:spPr>
          <a:xfrm>
            <a:off x="762000" y="6146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5" name="verdict"/>
          <p:cNvSpPr txBox="1"/>
          <p:nvPr/>
        </p:nvSpPr>
        <p:spPr>
          <a:xfrm>
            <a:off x="762000" y="6273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Próximo paso: prueba con estudiantes de Ingeniería Química y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medición del impacto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 el segundo cuatrimestre.</a:t>
            </a:r>
            <a:endParaRPr lang="en-US" sz="1550" noProof="1"/>
          </a:p>
        </p:txBody>
      </p:sp>
      <p:sp>
        <p:nvSpPr>
          <p:cNvPr id="16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09</a:t>
            </a:r>
            <a:endParaRPr lang="en-US" sz="10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84200" y="6121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50800" y="6375400"/>
            <a:ext cx="533400" cy="5334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C0762F"/>
                </a:solidFill>
                <a:latin typeface="MiSans"/>
                <a:ea typeface="MiSans"/>
              </a:rPr>
              <a:t>08 | RESULTADOS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914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Qué hace el estudiante, paso a paso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549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7A6A56"/>
                </a:solidFill>
                <a:latin typeface="MiSans"/>
                <a:ea typeface="MiSans"/>
              </a:rPr>
              <a:t>El protocolo completo de la práctica va integrado en el propio simulador.</a:t>
            </a:r>
            <a:endParaRPr lang="en-US" sz="1600" noProof="1"/>
          </a:p>
        </p:txBody>
      </p:sp>
      <p:sp>
        <p:nvSpPr>
          <p:cNvPr id="7" name="proto-backing"/>
          <p:cNvSpPr/>
          <p:nvPr/>
        </p:nvSpPr>
        <p:spPr>
          <a:xfrm>
            <a:off x="609600" y="1981200"/>
            <a:ext cx="5740400" cy="3962400"/>
          </a:xfrm>
          <a:prstGeom prst="rect">
            <a:avLst/>
          </a:prstGeom>
          <a:solidFill>
            <a:srgbClr val="F2DCD4"/>
          </a:solidFill>
          <a:ln>
            <a:noFill/>
          </a:ln>
        </p:spPr>
      </p:sp>
      <p:pic>
        <p:nvPicPr>
          <p:cNvPr id="8" name="proto-img"/>
          <p:cNvPicPr/>
          <p:nvPr/>
        </p:nvPicPr>
        <p:blipFill>
          <a:blip r:embed="rId2"/>
          <a:srcRect t="2000" b="2000"/>
          <a:stretch>
            <a:fillRect/>
          </a:stretch>
        </p:blipFill>
        <p:spPr>
          <a:xfrm>
            <a:off x="762000" y="2133600"/>
            <a:ext cx="5740400" cy="3962400"/>
          </a:xfrm>
          <a:prstGeom prst="rect">
            <a:avLst/>
          </a:prstGeom>
          <a:ln>
            <a:noFill/>
          </a:ln>
        </p:spPr>
      </p:pic>
      <p:sp>
        <p:nvSpPr>
          <p:cNvPr id="9" name="vline"/>
          <p:cNvSpPr/>
          <p:nvPr/>
        </p:nvSpPr>
        <p:spPr>
          <a:xfrm>
            <a:off x="6807200" y="2133600"/>
            <a:ext cx="12700" cy="3810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0" name="right-head"/>
          <p:cNvSpPr txBox="1"/>
          <p:nvPr/>
        </p:nvSpPr>
        <p:spPr>
          <a:xfrm>
            <a:off x="7112000" y="22352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C0651F"/>
                </a:solidFill>
                <a:latin typeface="MiSans"/>
                <a:ea typeface="MiSans"/>
              </a:rPr>
              <a:t>La misma secuencia del laboratorio</a:t>
            </a:r>
            <a:endParaRPr lang="en-US" sz="1700" noProof="1"/>
          </a:p>
        </p:txBody>
      </p:sp>
      <p:sp>
        <p:nvSpPr>
          <p:cNvPr id="11" name="right-body"/>
          <p:cNvSpPr txBox="1"/>
          <p:nvPr/>
        </p:nvSpPr>
        <p:spPr>
          <a:xfrm>
            <a:off x="7112000" y="2667000"/>
            <a:ext cx="431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650" noProof="1">
                <a:solidFill>
                  <a:srgbClr val="7A6A56"/>
                </a:solidFill>
                <a:latin typeface="MiSans"/>
                <a:ea typeface="MiSans"/>
              </a:rPr>
              <a:t>Preparar el equipo, desgasificar, medir, repetir y graficar los resultados, con los datos de referencia incluidos.</a:t>
            </a:r>
            <a:endParaRPr lang="en-US" sz="1650" noProof="1"/>
          </a:p>
        </p:txBody>
      </p:sp>
      <p:sp>
        <p:nvSpPr>
          <p:cNvPr id="12" name="right-rule"/>
          <p:cNvSpPr/>
          <p:nvPr/>
        </p:nvSpPr>
        <p:spPr>
          <a:xfrm>
            <a:off x="7112000" y="4318000"/>
            <a:ext cx="431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right-num"/>
          <p:cNvSpPr txBox="1"/>
          <p:nvPr/>
        </p:nvSpPr>
        <p:spPr>
          <a:xfrm>
            <a:off x="7112000" y="4445000"/>
            <a:ext cx="114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5C4630"/>
                </a:solidFill>
                <a:latin typeface="Oranienbaum"/>
                <a:ea typeface="Oranienbaum"/>
              </a:rPr>
              <a:t>8</a:t>
            </a:r>
            <a:endParaRPr lang="en-US" sz="3200" noProof="1"/>
          </a:p>
        </p:txBody>
      </p:sp>
      <p:sp>
        <p:nvSpPr>
          <p:cNvPr id="14" name="right-num-label"/>
          <p:cNvSpPr txBox="1"/>
          <p:nvPr/>
        </p:nvSpPr>
        <p:spPr>
          <a:xfrm>
            <a:off x="7493000" y="4470400"/>
            <a:ext cx="393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7A6A56"/>
                </a:solidFill>
                <a:latin typeface="MiSans"/>
                <a:ea typeface="MiSans"/>
              </a:rPr>
              <a:t>pasos guiados, del encendido al gráfico final</a:t>
            </a:r>
            <a:endParaRPr lang="en-US" sz="1500" noProof="1"/>
          </a:p>
        </p:txBody>
      </p:sp>
      <p:sp>
        <p:nvSpPr>
          <p:cNvPr id="15" name="right-note"/>
          <p:cNvSpPr txBox="1"/>
          <p:nvPr/>
        </p:nvSpPr>
        <p:spPr>
          <a:xfrm>
            <a:off x="7112000" y="51308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500" noProof="1">
                <a:solidFill>
                  <a:srgbClr val="7A6A56"/>
                </a:solidFill>
                <a:latin typeface="MiSans"/>
                <a:ea typeface="MiSans"/>
              </a:rPr>
              <a:t>El estudiante trabaja solo, a su ritmo, sin esperar turno ni material.</a:t>
            </a:r>
            <a:endParaRPr lang="en-US" sz="1500" noProof="1"/>
          </a:p>
        </p:txBody>
      </p:sp>
      <p:sp>
        <p:nvSpPr>
          <p:cNvPr id="16" name="bottom-rule"/>
          <p:cNvSpPr/>
          <p:nvPr/>
        </p:nvSpPr>
        <p:spPr>
          <a:xfrm>
            <a:off x="762000" y="6146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7" name="verdict"/>
          <p:cNvSpPr txBox="1"/>
          <p:nvPr/>
        </p:nvSpPr>
        <p:spPr>
          <a:xfrm>
            <a:off x="762000" y="6273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La formación práctica deja de depender del </a:t>
            </a:r>
            <a:r>
              <a:rPr lang="en-US" sz="1550" noProof="1" b="1">
                <a:solidFill>
                  <a:srgbClr val="C0651F"/>
                </a:solidFill>
                <a:latin typeface="MiSans"/>
                <a:ea typeface="MiSans"/>
              </a:rPr>
              <a:t>espacio y el tiempo del laboratorio</a:t>
            </a:r>
            <a:r>
              <a:rPr lang="en-US" sz="1550" noProof="1">
                <a:solidFill>
                  <a:srgbClr val="7A6A56"/>
                </a:solidFill>
                <a:latin typeface="MiSans"/>
                <a:ea typeface="MiSans"/>
              </a:rPr>
              <a:t>.</a:t>
            </a:r>
            <a:endParaRPr lang="en-US" sz="1550" noProof="1"/>
          </a:p>
        </p:txBody>
      </p:sp>
      <p:sp>
        <p:nvSpPr>
          <p:cNvPr id="18" name="pagenum"/>
          <p:cNvSpPr txBox="1"/>
          <p:nvPr/>
        </p:nvSpPr>
        <p:spPr>
          <a:xfrm>
            <a:off x="11049000" y="6299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10</a:t>
            </a:r>
            <a:endParaRPr lang="en-US" sz="10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584200" y="-584200"/>
            <a:ext cx="1422400" cy="14224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l-ring"/>
          <p:cNvSpPr/>
          <p:nvPr/>
        </p:nvSpPr>
        <p:spPr>
          <a:xfrm>
            <a:off x="457200" y="330200"/>
            <a:ext cx="685800" cy="6858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4" name="orn-tr-solid"/>
          <p:cNvSpPr/>
          <p:nvPr/>
        </p:nvSpPr>
        <p:spPr>
          <a:xfrm>
            <a:off x="11379200" y="-635000"/>
            <a:ext cx="1447800" cy="1447800"/>
          </a:xfrm>
          <a:prstGeom prst="ellipse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5" name="orn-bl-solid"/>
          <p:cNvSpPr/>
          <p:nvPr/>
        </p:nvSpPr>
        <p:spPr>
          <a:xfrm>
            <a:off x="-635000" y="5994400"/>
            <a:ext cx="1524000" cy="15240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6" name="orn-br-solid"/>
          <p:cNvSpPr/>
          <p:nvPr/>
        </p:nvSpPr>
        <p:spPr>
          <a:xfrm>
            <a:off x="11480800" y="61468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7" name="orn-br-ring"/>
          <p:cNvSpPr/>
          <p:nvPr/>
        </p:nvSpPr>
        <p:spPr>
          <a:xfrm>
            <a:off x="10896600" y="5689600"/>
            <a:ext cx="635000" cy="635000"/>
          </a:xfrm>
          <a:prstGeom prst="ellipse">
            <a:avLst/>
          </a:prstGeom>
          <a:solidFill>
            <a:srgbClr val="F2DCD4">
              <a:alpha val="0"/>
            </a:srgbClr>
          </a:solidFill>
          <a:ln w="15240">
            <a:solidFill>
              <a:srgbClr val="7A5732"/>
            </a:solidFill>
          </a:ln>
        </p:spPr>
      </p:sp>
      <p:sp>
        <p:nvSpPr>
          <p:cNvPr id="8" name="kicker"/>
          <p:cNvSpPr txBox="1"/>
          <p:nvPr/>
        </p:nvSpPr>
        <p:spPr>
          <a:xfrm>
            <a:off x="2921000" y="1498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09 | PARA CERRAR</a:t>
            </a:r>
            <a:endParaRPr lang="en-US" sz="1200" noProof="1"/>
          </a:p>
        </p:txBody>
      </p:sp>
      <p:sp>
        <p:nvSpPr>
          <p:cNvPr id="9" name="statement"/>
          <p:cNvSpPr txBox="1"/>
          <p:nvPr/>
        </p:nvSpPr>
        <p:spPr>
          <a:xfrm>
            <a:off x="1651000" y="2032000"/>
            <a:ext cx="8890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32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Cliente real. Software libre. IA supervisada. </a:t>
            </a:r>
            <a:r>
              <a:rPr lang="en-US" sz="3200" noProof="1" spc="200" kern="0">
                <a:solidFill>
                  <a:srgbClr val="C0651F"/>
                </a:solidFill>
                <a:latin typeface="LXGW Bright"/>
                <a:ea typeface="LXGW Bright"/>
              </a:rPr>
              <a:t>Un modelo transferible.</a:t>
            </a:r>
            <a:endParaRPr lang="en-US" sz="3200" noProof="1"/>
          </a:p>
        </p:txBody>
      </p:sp>
      <p:sp>
        <p:nvSpPr>
          <p:cNvPr id="10" name="statement-rule"/>
          <p:cNvSpPr/>
          <p:nvPr/>
        </p:nvSpPr>
        <p:spPr>
          <a:xfrm>
            <a:off x="5842000" y="41910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1" name="closing"/>
          <p:cNvSpPr txBox="1"/>
          <p:nvPr/>
        </p:nvSpPr>
        <p:spPr>
          <a:xfrm>
            <a:off x="2286000" y="45212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700" noProof="1">
                <a:solidFill>
                  <a:srgbClr val="7A6A56"/>
                </a:solidFill>
                <a:latin typeface="MiSans"/>
                <a:ea typeface="MiSans"/>
              </a:rPr>
              <a:t>Cualquier cátedra que establezca un vínculo análogo con otra carrera puede replicar la experiencia.</a:t>
            </a:r>
            <a:endParaRPr lang="en-US" sz="1700" noProof="1"/>
          </a:p>
        </p:txBody>
      </p:sp>
      <p:sp>
        <p:nvSpPr>
          <p:cNvPr id="12" name="closing-note"/>
          <p:cNvSpPr txBox="1"/>
          <p:nvPr/>
        </p:nvSpPr>
        <p:spPr>
          <a:xfrm>
            <a:off x="2286000" y="5969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A08F78"/>
                </a:solidFill>
                <a:latin typeface="MiSans"/>
                <a:ea typeface="MiSans"/>
              </a:rPr>
              <a:t>SAEI · 55° JAIIO 2026 · Preguntas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11</Slides>
</Properties>
</file>

<file path=docProps/core.xml><?xml version="1.0" encoding="utf-8"?>
<cp:coreProperties xmlns:dc="http://purl.org/dc/elements/1.1/" xmlns:cp="http://schemas.openxmlformats.org/package/2006/metadata/core-properties">
  <dc:title>Ingeniería de Software Interdisciplinaria para la Simulación de Laboratorios Químicos — SAEI, 55 JAIIO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